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4339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NESTL ŽGANK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2514600"/>
            <a:ext cx="27432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Dragić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VSŠ </a:t>
            </a:r>
            <a:r>
              <a:rPr lang="en-US" sz="1400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Velenje</a:t>
            </a:r>
            <a:r>
              <a:rPr lang="en-US" sz="14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|30.3.2026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0" y="39319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52039"/>
          </a:solidFill>
          <a:ln w="12700">
            <a:solidFill>
              <a:srgbClr val="152039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64008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 problema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541059"/>
            <a:ext cx="3840480" cy="1188720"/>
          </a:xfrm>
          <a:prstGeom prst="rect">
            <a:avLst/>
          </a:prstGeom>
          <a:solidFill>
            <a:srgbClr val="243558"/>
          </a:solidFill>
          <a:ln w="12700">
            <a:solidFill>
              <a:srgbClr val="3A4F72"/>
            </a:solidFill>
            <a:prstDash val="solid"/>
          </a:ln>
        </p:spPr>
        <p:txBody>
          <a:bodyPr/>
          <a:lstStyle/>
          <a:p>
            <a:endParaRPr lang="en-SI" dirty="0"/>
          </a:p>
        </p:txBody>
      </p:sp>
      <p:sp>
        <p:nvSpPr>
          <p:cNvPr id="6" name="Text 4"/>
          <p:cNvSpPr/>
          <p:nvPr/>
        </p:nvSpPr>
        <p:spPr>
          <a:xfrm>
            <a:off x="521208" y="1572768"/>
            <a:ext cx="3621024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je v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turisti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obiskovalci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mest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pogosto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nimajo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zanimivega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interaktivnega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načina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spoznavanje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zgodovine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pomembnih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osebnosti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Klasične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informacijske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table so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statične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nezanimive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" y="3310128"/>
            <a:ext cx="3621024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32461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4709160" y="4114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1026" name="Picture 2" descr="5 Whys: Getting to the Root of the Problem - Strategic Learning">
            <a:extLst>
              <a:ext uri="{FF2B5EF4-FFF2-40B4-BE49-F238E27FC236}">
                <a16:creationId xmlns:a16="http://schemas.microsoft.com/office/drawing/2014/main" id="{89802128-20CF-E5A8-B987-00EE1906C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9215" y="1553411"/>
            <a:ext cx="4481402" cy="2352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64008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REŠITEV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Kako rešujemo problem?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444752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SI"/>
          </a:p>
        </p:txBody>
      </p:sp>
      <p:sp>
        <p:nvSpPr>
          <p:cNvPr id="6" name="Text 4"/>
          <p:cNvSpPr/>
          <p:nvPr/>
        </p:nvSpPr>
        <p:spPr>
          <a:xfrm>
            <a:off x="521208" y="1554480"/>
            <a:ext cx="3895344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 err="1"/>
              <a:t>Aplikacija</a:t>
            </a:r>
            <a:r>
              <a:rPr lang="en-US" sz="1300" dirty="0"/>
              <a:t> </a:t>
            </a:r>
            <a:r>
              <a:rPr lang="en-US" sz="1300" dirty="0" err="1"/>
              <a:t>rešuje</a:t>
            </a:r>
            <a:r>
              <a:rPr lang="en-US" sz="1300" dirty="0"/>
              <a:t> problem z </a:t>
            </a:r>
            <a:r>
              <a:rPr lang="en-US" sz="1300" dirty="0" err="1"/>
              <a:t>vključevanjem</a:t>
            </a:r>
            <a:r>
              <a:rPr lang="en-US" sz="1300" dirty="0"/>
              <a:t> </a:t>
            </a:r>
            <a:r>
              <a:rPr lang="en-US" sz="1300" dirty="0" err="1"/>
              <a:t>uporabnika</a:t>
            </a:r>
            <a:r>
              <a:rPr lang="en-US" sz="1300" dirty="0"/>
              <a:t> v </a:t>
            </a:r>
            <a:r>
              <a:rPr lang="en-US" sz="1300" dirty="0" err="1"/>
              <a:t>interaktivno</a:t>
            </a:r>
            <a:r>
              <a:rPr lang="en-US" sz="1300" dirty="0"/>
              <a:t> </a:t>
            </a:r>
            <a:r>
              <a:rPr lang="en-US" sz="1300" dirty="0" err="1"/>
              <a:t>izkušnjo</a:t>
            </a:r>
            <a:r>
              <a:rPr lang="en-US" sz="1300" dirty="0"/>
              <a:t>, </a:t>
            </a:r>
            <a:r>
              <a:rPr lang="en-US" sz="1300" dirty="0" err="1"/>
              <a:t>kjer</a:t>
            </a:r>
            <a:r>
              <a:rPr lang="en-US" sz="1300" dirty="0"/>
              <a:t> </a:t>
            </a:r>
            <a:r>
              <a:rPr lang="en-US" sz="1300" dirty="0" err="1"/>
              <a:t>lahko</a:t>
            </a:r>
            <a:r>
              <a:rPr lang="en-US" sz="1300" dirty="0"/>
              <a:t> </a:t>
            </a:r>
            <a:r>
              <a:rPr lang="en-US" sz="1300" dirty="0" err="1"/>
              <a:t>komunicira</a:t>
            </a:r>
            <a:r>
              <a:rPr lang="en-US" sz="1300" dirty="0"/>
              <a:t> z </a:t>
            </a:r>
            <a:r>
              <a:rPr lang="en-US" sz="1300" dirty="0" err="1"/>
              <a:t>digitalizirano</a:t>
            </a:r>
            <a:r>
              <a:rPr lang="en-US" sz="1300" dirty="0"/>
              <a:t> </a:t>
            </a:r>
            <a:r>
              <a:rPr lang="en-US" sz="1300" dirty="0" err="1"/>
              <a:t>zgodovinsko</a:t>
            </a:r>
            <a:r>
              <a:rPr lang="en-US" sz="1300" dirty="0"/>
              <a:t> </a:t>
            </a:r>
            <a:r>
              <a:rPr lang="en-US" sz="1300" dirty="0" err="1"/>
              <a:t>osebnostjo</a:t>
            </a:r>
            <a:r>
              <a:rPr lang="en-US" sz="1300" dirty="0"/>
              <a:t>.</a:t>
            </a:r>
          </a:p>
        </p:txBody>
      </p:sp>
      <p:sp>
        <p:nvSpPr>
          <p:cNvPr id="7" name="Text 5"/>
          <p:cNvSpPr/>
          <p:nvPr/>
        </p:nvSpPr>
        <p:spPr>
          <a:xfrm>
            <a:off x="411480" y="2971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Prednosti vs. konkurenca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3319272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SI" dirty="0"/>
          </a:p>
        </p:txBody>
      </p:sp>
      <p:sp>
        <p:nvSpPr>
          <p:cNvPr id="9" name="Text 7"/>
          <p:cNvSpPr/>
          <p:nvPr/>
        </p:nvSpPr>
        <p:spPr>
          <a:xfrm>
            <a:off x="576072" y="3456432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Prednost 1: take </a:t>
            </a:r>
            <a:r>
              <a:rPr lang="en-US" sz="13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aplikacija</a:t>
            </a: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še</a:t>
            </a: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 </a:t>
            </a:r>
            <a:r>
              <a:rPr lang="en-US" sz="13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obstaja</a:t>
            </a: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3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vsaj</a:t>
            </a: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 </a:t>
            </a:r>
            <a:r>
              <a:rPr lang="en-US" sz="13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</a:t>
            </a: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Žganka</a:t>
            </a: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Prednost 2: AI </a:t>
            </a:r>
            <a:r>
              <a:rPr lang="en-US" sz="13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kateri</a:t>
            </a: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 </a:t>
            </a:r>
            <a:r>
              <a:rPr lang="en-US" sz="13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ustvarjen</a:t>
            </a: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</a:t>
            </a: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 </a:t>
            </a:r>
            <a:r>
              <a:rPr lang="en-US" sz="13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njega</a:t>
            </a: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sz="13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njegovi</a:t>
            </a: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personalizaciji</a:t>
            </a:r>
            <a:endParaRPr lang="en-US" sz="1300" dirty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13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Prednost</a:t>
            </a: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3: start pred </a:t>
            </a:r>
            <a:r>
              <a:rPr lang="en-US" sz="13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konkurenco</a:t>
            </a:r>
            <a:endParaRPr lang="en-US" sz="1300" dirty="0"/>
          </a:p>
        </p:txBody>
      </p:sp>
      <p:pic>
        <p:nvPicPr>
          <p:cNvPr id="14" name="Slika 13">
            <a:extLst>
              <a:ext uri="{FF2B5EF4-FFF2-40B4-BE49-F238E27FC236}">
                <a16:creationId xmlns:a16="http://schemas.microsoft.com/office/drawing/2014/main" id="{81681657-2E48-F0B4-49B9-CEFB34C37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627776"/>
            <a:ext cx="4572000" cy="23771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64008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STITCH – ARHITEKTURA SISTEMA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321040" cy="3566160"/>
          </a:xfrm>
          <a:prstGeom prst="rect">
            <a:avLst/>
          </a:prstGeom>
          <a:solidFill>
            <a:srgbClr val="243558"/>
          </a:solidFill>
          <a:ln w="12700">
            <a:solidFill>
              <a:srgbClr val="3A4F72"/>
            </a:solidFill>
            <a:prstDash val="solid"/>
          </a:ln>
        </p:spPr>
        <p:txBody>
          <a:bodyPr/>
          <a:lstStyle/>
          <a:p>
            <a:endParaRPr lang="en-SI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83210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6DDE4794-1BD7-9E64-6548-8F7E779C5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3802" y="1340038"/>
            <a:ext cx="2916396" cy="33691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64008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– MINIMALNI VIABILNI PRODUKT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SI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260604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6" name="Text 4"/>
          <p:cNvSpPr/>
          <p:nvPr/>
        </p:nvSpPr>
        <p:spPr>
          <a:xfrm>
            <a:off x="521208" y="1179576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Kaj je MVP?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1208" y="1508760"/>
            <a:ext cx="23865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 je </a:t>
            </a:r>
            <a:r>
              <a:rPr lang="en-US" sz="11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najosnovnejša</a:t>
            </a: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različica</a:t>
            </a: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izdelka</a:t>
            </a: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ki </a:t>
            </a:r>
            <a:r>
              <a:rPr lang="en-US" sz="11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ima</a:t>
            </a: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samo</a:t>
            </a: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ključne</a:t>
            </a: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funkcije</a:t>
            </a: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1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dovolj</a:t>
            </a: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da ga </a:t>
            </a:r>
            <a:r>
              <a:rPr lang="en-US" sz="11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lahko</a:t>
            </a: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uporabniki</a:t>
            </a: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uporabljajo</a:t>
            </a: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in da </a:t>
            </a:r>
            <a:r>
              <a:rPr lang="en-US" sz="11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podjetje</a:t>
            </a: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dobi</a:t>
            </a: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povratne</a:t>
            </a: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informacije</a:t>
            </a: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SI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0604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0" name="Text 8"/>
          <p:cNvSpPr/>
          <p:nvPr/>
        </p:nvSpPr>
        <p:spPr>
          <a:xfrm>
            <a:off x="3355848" y="1179576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Vključene funkcije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55848" y="1508760"/>
            <a:ext cx="23865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 err="1"/>
              <a:t>Pogovor</a:t>
            </a:r>
            <a:r>
              <a:rPr lang="en-US" sz="1100" dirty="0"/>
              <a:t> z </a:t>
            </a:r>
            <a:r>
              <a:rPr lang="en-US" sz="1100" dirty="0" err="1"/>
              <a:t>žganku</a:t>
            </a:r>
            <a:br>
              <a:rPr lang="en-US" sz="1100" dirty="0"/>
            </a:br>
            <a:r>
              <a:rPr lang="en-US" sz="1100" dirty="0" err="1"/>
              <a:t>sprehajanje</a:t>
            </a:r>
            <a:r>
              <a:rPr lang="en-US" sz="1100" dirty="0"/>
              <a:t> po </a:t>
            </a:r>
            <a:r>
              <a:rPr lang="en-US" sz="1100" dirty="0" err="1"/>
              <a:t>mapi</a:t>
            </a:r>
            <a:br>
              <a:rPr lang="en-US" sz="1100" dirty="0"/>
            </a:br>
            <a:r>
              <a:rPr lang="en-US" sz="1100" dirty="0"/>
              <a:t>3d model </a:t>
            </a:r>
            <a:r>
              <a:rPr lang="en-US" sz="1100" dirty="0" err="1"/>
              <a:t>Žganka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05156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SI"/>
          </a:p>
        </p:txBody>
      </p:sp>
      <p:sp>
        <p:nvSpPr>
          <p:cNvPr id="13" name="Shape 11"/>
          <p:cNvSpPr/>
          <p:nvPr/>
        </p:nvSpPr>
        <p:spPr>
          <a:xfrm>
            <a:off x="6080760" y="1051560"/>
            <a:ext cx="260604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4" name="Text 12"/>
          <p:cNvSpPr/>
          <p:nvPr/>
        </p:nvSpPr>
        <p:spPr>
          <a:xfrm>
            <a:off x="6190488" y="1179576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Zakaj te funkcije?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90488" y="1508760"/>
            <a:ext cx="23865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 err="1"/>
              <a:t>Glavni</a:t>
            </a:r>
            <a:r>
              <a:rPr lang="en-US" sz="1100" dirty="0"/>
              <a:t> </a:t>
            </a:r>
            <a:r>
              <a:rPr lang="en-US" sz="1100" dirty="0" err="1"/>
              <a:t>razlog</a:t>
            </a:r>
            <a:r>
              <a:rPr lang="en-US" sz="1100" dirty="0"/>
              <a:t> </a:t>
            </a:r>
            <a:r>
              <a:rPr lang="en-US" sz="1100" dirty="0" err="1"/>
              <a:t>aplikacije</a:t>
            </a:r>
            <a:br>
              <a:rPr lang="en-US" sz="1100" dirty="0"/>
            </a:br>
            <a:r>
              <a:rPr lang="en-US" sz="1100" dirty="0" err="1"/>
              <a:t>nujno</a:t>
            </a:r>
            <a:r>
              <a:rPr lang="en-US" sz="1100" dirty="0"/>
              <a:t> </a:t>
            </a:r>
            <a:r>
              <a:rPr lang="en-US" sz="1100" dirty="0" err="1"/>
              <a:t>potrebno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2971800"/>
            <a:ext cx="8321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9" name="Slika 18">
            <a:extLst>
              <a:ext uri="{FF2B5EF4-FFF2-40B4-BE49-F238E27FC236}">
                <a16:creationId xmlns:a16="http://schemas.microsoft.com/office/drawing/2014/main" id="{73062C82-D1DA-ECC3-9F4E-0073384DC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7876" y="2855963"/>
            <a:ext cx="3598606" cy="18531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64008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VIDEO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321040" cy="822960"/>
          </a:xfrm>
          <a:prstGeom prst="rect">
            <a:avLst/>
          </a:prstGeom>
          <a:solidFill>
            <a:srgbClr val="243558"/>
          </a:solidFill>
          <a:ln w="12700">
            <a:solidFill>
              <a:srgbClr val="3A4F72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videom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tukaj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preizkusil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chatbox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pisanje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mikrofon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dobil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odgovor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kako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 on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odgovoril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pa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šel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 XR mode in se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sprehajal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mapi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tudi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 XR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lahko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pisal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Žgankom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554480" y="2011680"/>
            <a:ext cx="6035040" cy="2011680"/>
          </a:xfrm>
          <a:prstGeom prst="rect">
            <a:avLst/>
          </a:prstGeom>
          <a:solidFill>
            <a:srgbClr val="152039"/>
          </a:solidFill>
          <a:ln w="254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7" name="Text 5"/>
          <p:cNvSpPr/>
          <p:nvPr/>
        </p:nvSpPr>
        <p:spPr>
          <a:xfrm>
            <a:off x="1554480" y="2011680"/>
            <a:ext cx="6035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4160520"/>
            <a:ext cx="8321040" cy="685800"/>
          </a:xfrm>
          <a:prstGeom prst="rect">
            <a:avLst/>
          </a:prstGeom>
          <a:solidFill>
            <a:srgbClr val="243558"/>
          </a:solidFill>
          <a:ln w="12700">
            <a:solidFill>
              <a:srgbClr val="3A4F72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videu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chatbox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deluje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odlično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mogoče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popravil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kako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govori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sprehanje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tudi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deluje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hočem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naprej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nazaj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levo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desno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dol in pa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mikrofon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deluje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brezhibno</a:t>
            </a: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64008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SI"/>
          </a:p>
        </p:txBody>
      </p:sp>
      <p:sp>
        <p:nvSpPr>
          <p:cNvPr id="5" name="Text 3"/>
          <p:cNvSpPr/>
          <p:nvPr/>
        </p:nvSpPr>
        <p:spPr>
          <a:xfrm>
            <a:off x="521208" y="1161288"/>
            <a:ext cx="2523744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Ciljni trg</a:t>
            </a:r>
            <a:endParaRPr lang="en-US" sz="1300" dirty="0"/>
          </a:p>
          <a:p>
            <a:pPr marL="285750" indent="-285750" algn="l">
              <a:buFontTx/>
              <a:buChar char="-"/>
            </a:pPr>
            <a:r>
              <a:rPr lang="en-US" sz="1300" dirty="0" err="1"/>
              <a:t>Turisti</a:t>
            </a:r>
            <a:endParaRPr lang="en-US" sz="1300" dirty="0"/>
          </a:p>
          <a:p>
            <a:pPr marL="285750" indent="-285750" algn="l">
              <a:buFontTx/>
              <a:buChar char="-"/>
            </a:pPr>
            <a:r>
              <a:rPr lang="en-US" sz="1300" dirty="0" err="1"/>
              <a:t>Študenti</a:t>
            </a:r>
            <a:endParaRPr lang="en-US" sz="1300" dirty="0"/>
          </a:p>
          <a:p>
            <a:pPr marL="285750" indent="-285750" algn="l">
              <a:buFontTx/>
              <a:buChar char="-"/>
            </a:pPr>
            <a:r>
              <a:rPr lang="en-US" sz="1300" dirty="0" err="1"/>
              <a:t>Dijaki</a:t>
            </a:r>
            <a:endParaRPr lang="en-US" sz="1300" dirty="0"/>
          </a:p>
          <a:p>
            <a:pPr marL="285750" indent="-285750" algn="l">
              <a:buFontTx/>
              <a:buChar char="-"/>
            </a:pPr>
            <a:r>
              <a:rPr lang="en-US" sz="1300" dirty="0" err="1"/>
              <a:t>Obiskovalci</a:t>
            </a:r>
            <a:r>
              <a:rPr lang="en-US" sz="1300" dirty="0"/>
              <a:t> </a:t>
            </a:r>
            <a:r>
              <a:rPr lang="en-US" sz="1300" dirty="0" err="1"/>
              <a:t>mesta</a:t>
            </a:r>
            <a:endParaRPr lang="en-US" sz="1300" dirty="0"/>
          </a:p>
          <a:p>
            <a:pPr algn="l"/>
            <a:r>
              <a:rPr lang="en-US" sz="1300" dirty="0"/>
              <a:t>- </a:t>
            </a:r>
            <a:r>
              <a:rPr lang="en-US" sz="1300" dirty="0" err="1"/>
              <a:t>Muzeji</a:t>
            </a:r>
            <a:r>
              <a:rPr lang="en-US" sz="1300" dirty="0"/>
              <a:t> in </a:t>
            </a:r>
            <a:r>
              <a:rPr lang="en-US" sz="1300" dirty="0" err="1"/>
              <a:t>turistični</a:t>
            </a:r>
            <a:r>
              <a:rPr lang="en-US" sz="1300" dirty="0"/>
              <a:t> </a:t>
            </a:r>
            <a:r>
              <a:rPr lang="en-US" sz="1300" dirty="0" err="1"/>
              <a:t>centri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29260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SI"/>
          </a:p>
        </p:txBody>
      </p:sp>
      <p:sp>
        <p:nvSpPr>
          <p:cNvPr id="7" name="Text 5"/>
          <p:cNvSpPr/>
          <p:nvPr/>
        </p:nvSpPr>
        <p:spPr>
          <a:xfrm>
            <a:off x="521208" y="2990088"/>
            <a:ext cx="2523744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Poslovni</a:t>
            </a: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model</a:t>
            </a:r>
            <a:b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Zaslužil</a:t>
            </a: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bom</a:t>
            </a: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preko</a:t>
            </a: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subsribtions</a:t>
            </a: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če</a:t>
            </a: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bodo</a:t>
            </a: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muzeji</a:t>
            </a: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ali</a:t>
            </a: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turistični</a:t>
            </a: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centri</a:t>
            </a: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kupili</a:t>
            </a: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in pa </a:t>
            </a:r>
            <a:r>
              <a:rPr lang="en-US" sz="13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lahko</a:t>
            </a: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tudi</a:t>
            </a: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subsribtion</a:t>
            </a: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kot</a:t>
            </a: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nadgradnja</a:t>
            </a: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 Da </a:t>
            </a:r>
            <a:r>
              <a:rPr lang="en-US" sz="13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ima</a:t>
            </a: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bolše</a:t>
            </a: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odgovore</a:t>
            </a: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itd</a:t>
            </a: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051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03320" y="14447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23360" y="25146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051560"/>
            <a:ext cx="258775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SI"/>
          </a:p>
        </p:txBody>
      </p:sp>
      <p:sp>
        <p:nvSpPr>
          <p:cNvPr id="15" name="Text 13"/>
          <p:cNvSpPr/>
          <p:nvPr/>
        </p:nvSpPr>
        <p:spPr>
          <a:xfrm>
            <a:off x="6144768" y="1161288"/>
            <a:ext cx="2478024" cy="3300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Konkurenca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Google lens</a:t>
            </a:r>
            <a:b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wikitude</a:t>
            </a:r>
            <a:b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TimeLooper</a:t>
            </a:r>
            <a:endParaRPr lang="en-US" sz="1300" dirty="0"/>
          </a:p>
        </p:txBody>
      </p:sp>
      <p:pic>
        <p:nvPicPr>
          <p:cNvPr id="2050" name="Picture 2" descr="Kako preveriti kaj počne vaša SEO konkurenca? (7 korakov) - Spletnik">
            <a:extLst>
              <a:ext uri="{FF2B5EF4-FFF2-40B4-BE49-F238E27FC236}">
                <a16:creationId xmlns:a16="http://schemas.microsoft.com/office/drawing/2014/main" id="{4DAF704E-B8DA-63C8-E0A0-B70855D1E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313" y="1351063"/>
            <a:ext cx="2441374" cy="2441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64008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ZAKLJUČEK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2606040" cy="3383280"/>
          </a:xfrm>
          <a:prstGeom prst="rect">
            <a:avLst/>
          </a:prstGeom>
          <a:solidFill>
            <a:srgbClr val="243558"/>
          </a:solidFill>
          <a:ln w="12700">
            <a:solidFill>
              <a:srgbClr val="3A4F72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260604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6" name="Shape 4"/>
          <p:cNvSpPr/>
          <p:nvPr/>
        </p:nvSpPr>
        <p:spPr>
          <a:xfrm>
            <a:off x="539496" y="1371600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7" name="Text 5"/>
          <p:cNvSpPr/>
          <p:nvPr/>
        </p:nvSpPr>
        <p:spPr>
          <a:xfrm>
            <a:off x="539496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96696" y="1389888"/>
            <a:ext cx="1911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Ključne točke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9496" y="1874520"/>
            <a:ext cx="235000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 err="1">
                <a:solidFill>
                  <a:schemeClr val="bg1"/>
                </a:solidFill>
              </a:rPr>
              <a:t>Zelo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zabavna</a:t>
            </a:r>
            <a:r>
              <a:rPr lang="en-US" sz="1200" dirty="0">
                <a:solidFill>
                  <a:schemeClr val="bg1"/>
                </a:solidFill>
              </a:rPr>
              <a:t> in </a:t>
            </a:r>
            <a:r>
              <a:rPr lang="en-US" sz="1200" dirty="0" err="1">
                <a:solidFill>
                  <a:schemeClr val="bg1"/>
                </a:solidFill>
              </a:rPr>
              <a:t>poučna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aplikacija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606040" cy="3383280"/>
          </a:xfrm>
          <a:prstGeom prst="rect">
            <a:avLst/>
          </a:prstGeom>
          <a:solidFill>
            <a:srgbClr val="243558"/>
          </a:solidFill>
          <a:ln w="12700">
            <a:solidFill>
              <a:srgbClr val="3A4F72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0604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2" name="Shape 10"/>
          <p:cNvSpPr/>
          <p:nvPr/>
        </p:nvSpPr>
        <p:spPr>
          <a:xfrm>
            <a:off x="3374136" y="1371600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3" name="Text 11"/>
          <p:cNvSpPr/>
          <p:nvPr/>
        </p:nvSpPr>
        <p:spPr>
          <a:xfrm>
            <a:off x="3374136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31336" y="1389888"/>
            <a:ext cx="1911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Naslednji koraki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74136" y="1874520"/>
            <a:ext cx="235000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Izbolšava</a:t>
            </a: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AI, </a:t>
            </a:r>
            <a:r>
              <a:rPr lang="en-US" sz="12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bolši</a:t>
            </a: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background in </a:t>
            </a:r>
            <a:r>
              <a:rPr lang="en-US" sz="12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več</a:t>
            </a: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funkcij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80760" y="1188720"/>
            <a:ext cx="2606040" cy="3383280"/>
          </a:xfrm>
          <a:prstGeom prst="rect">
            <a:avLst/>
          </a:prstGeom>
          <a:solidFill>
            <a:srgbClr val="243558"/>
          </a:solidFill>
          <a:ln w="12700">
            <a:solidFill>
              <a:srgbClr val="3A4F72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7" name="Shape 15"/>
          <p:cNvSpPr/>
          <p:nvPr/>
        </p:nvSpPr>
        <p:spPr>
          <a:xfrm>
            <a:off x="6080760" y="1188720"/>
            <a:ext cx="260604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8" name="Shape 16"/>
          <p:cNvSpPr/>
          <p:nvPr/>
        </p:nvSpPr>
        <p:spPr>
          <a:xfrm>
            <a:off x="6208776" y="1371600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9" name="Text 17"/>
          <p:cNvSpPr/>
          <p:nvPr/>
        </p:nvSpPr>
        <p:spPr>
          <a:xfrm>
            <a:off x="6208776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65976" y="1389888"/>
            <a:ext cx="1911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Poziv k akciji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08776" y="1874520"/>
            <a:ext cx="235000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 err="1">
                <a:solidFill>
                  <a:schemeClr val="bg1"/>
                </a:solidFill>
              </a:rPr>
              <a:t>Večjo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ekipo</a:t>
            </a:r>
            <a:r>
              <a:rPr lang="en-US" sz="1200" dirty="0">
                <a:solidFill>
                  <a:schemeClr val="bg1"/>
                </a:solidFill>
              </a:rPr>
              <a:t> ki se </a:t>
            </a:r>
            <a:r>
              <a:rPr lang="en-US" sz="1200" dirty="0" err="1">
                <a:solidFill>
                  <a:schemeClr val="bg1"/>
                </a:solidFill>
              </a:rPr>
              <a:t>upravlja</a:t>
            </a:r>
            <a:r>
              <a:rPr lang="en-US" sz="1200" dirty="0">
                <a:solidFill>
                  <a:schemeClr val="bg1"/>
                </a:solidFill>
              </a:rPr>
              <a:t> z </a:t>
            </a:r>
            <a:r>
              <a:rPr lang="en-US" sz="1200" dirty="0" err="1">
                <a:solidFill>
                  <a:schemeClr val="bg1"/>
                </a:solidFill>
              </a:rPr>
              <a:t>programiranjem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HVALA ZA POZORNOST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3200400" y="2194560"/>
            <a:ext cx="27432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odprt za vprašanja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468880" y="320040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52039"/>
          </a:solidFill>
          <a:ln w="12700">
            <a:solidFill>
              <a:srgbClr val="152039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isarn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341</Words>
  <Application>Microsoft Office PowerPoint</Application>
  <PresentationFormat>Diaprojekcija na zaslonu (16:9)</PresentationFormat>
  <Paragraphs>56</Paragraphs>
  <Slides>9</Slides>
  <Notes>9</Notes>
  <HiddenSlides>0</HiddenSlides>
  <MMClips>0</MMClips>
  <ScaleCrop>false</ScaleCrop>
  <HeadingPairs>
    <vt:vector size="6" baseType="variant">
      <vt:variant>
        <vt:lpstr>Uporabljene pisave</vt:lpstr>
      </vt:variant>
      <vt:variant>
        <vt:i4>3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Projektna Prezentacija</dc:title>
  <dc:subject>PptxGenJS Presentation</dc:subject>
  <dc:creator>PptxGenJS</dc:creator>
  <cp:lastModifiedBy>Lana Dragić</cp:lastModifiedBy>
  <cp:revision>2</cp:revision>
  <dcterms:created xsi:type="dcterms:W3CDTF">2026-03-31T05:45:56Z</dcterms:created>
  <dcterms:modified xsi:type="dcterms:W3CDTF">2026-03-31T06:16:12Z</dcterms:modified>
</cp:coreProperties>
</file>